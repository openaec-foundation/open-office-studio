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Introductie: een open basis voor goed werk. Bespreek de samenhang tussen ruimte, materiaal en samenwerking.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0" y="0"/>
            <a:ext cx="3962095" cy="6858000"/>
          </a:xfrm>
          <a:prstGeom prst="rect">
            <a:avLst/>
          </a:prstGeom>
          <a:solidFill>
            <a:srgbClr val="283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1143000"/>
            <a:ext cx="2286000" cy="3474720"/>
          </a:xfrm>
          <a:prstGeom prst="rect">
            <a:avLst/>
          </a:prstGeom>
          <a:solidFill>
            <a:srgbClr val="425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81160" y="1965960"/>
            <a:ext cx="2286000" cy="3474720"/>
          </a:xfrm>
          <a:prstGeom prst="rect">
            <a:avLst/>
          </a:prstGeom>
          <a:solidFill>
            <a:srgbClr val="CC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778240" y="4114800"/>
            <a:ext cx="2286000" cy="1325880"/>
          </a:xfrm>
          <a:prstGeom prst="rect">
            <a:avLst/>
          </a:prstGeom>
          <a:solidFill>
            <a:srgbClr val="E8D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64008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A95606"/>
                </a:solidFill>
                <a:latin typeface="Calibri"/>
              </a:defRPr>
            </a:pPr>
            <a:r>
              <a:t>OPENAEC  /  ONTWERPVISIE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7132320" cy="1554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4400" b="1">
                <a:solidFill>
                  <a:srgbClr val="28384B"/>
                </a:solidFill>
                <a:latin typeface="Calibri"/>
              </a:defRPr>
            </a:pPr>
            <a:r>
              <a:t>Samen ruimte</a:t>
            </a:r>
          </a:p>
          <a:p>
            <a:pPr>
              <a:defRPr sz="4400" b="1">
                <a:solidFill>
                  <a:srgbClr val="28384B"/>
                </a:solidFill>
                <a:latin typeface="Calibri"/>
              </a:defRPr>
            </a:pPr>
            <a:r>
              <a:t>maken.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49039"/>
            <a:ext cx="65836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0">
                <a:solidFill>
                  <a:srgbClr val="718094"/>
                </a:solidFill>
                <a:latin typeface="Calibri"/>
              </a:defRPr>
            </a:pPr>
            <a:r>
              <a:t>Van een helder idee naar een</a:t>
            </a:r>
          </a:p>
          <a:p>
            <a:pPr>
              <a:defRPr sz="2100" b="0">
                <a:solidFill>
                  <a:srgbClr val="718094"/>
                </a:solidFill>
                <a:latin typeface="Calibri"/>
              </a:defRPr>
            </a:pPr>
            <a:r>
              <a:t>werkplek die blijft werken.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715000"/>
            <a:ext cx="594360" cy="45720"/>
          </a:xfrm>
          <a:prstGeom prst="rect">
            <a:avLst/>
          </a:prstGeom>
          <a:solidFill>
            <a:srgbClr val="CC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5596128"/>
            <a:ext cx="54864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0">
                <a:solidFill>
                  <a:srgbClr val="718094"/>
                </a:solidFill>
                <a:latin typeface="Calibri"/>
              </a:defRPr>
            </a:pPr>
            <a:r>
              <a:t>01    EEN OPEN BASIS VOOR GOED WERK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A95606"/>
                </a:solidFill>
                <a:latin typeface="Calibri"/>
              </a:defRPr>
            </a:pPr>
            <a:r>
              <a:t>OPENAEC  /  ONTWERPVISIE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28384B"/>
                </a:solidFill>
                <a:latin typeface="Calibri"/>
              </a:defRPr>
            </a:pPr>
            <a:r>
              <a:t>Drie uitgangspunten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0">
                <a:solidFill>
                  <a:srgbClr val="718094"/>
                </a:solidFill>
                <a:latin typeface="Calibri"/>
              </a:defRPr>
            </a:pPr>
            <a:r>
              <a:t>Van ambitie naar ontwerpkeuzes.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46120"/>
            <a:ext cx="338328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246120"/>
            <a:ext cx="3383280" cy="54864"/>
          </a:xfrm>
          <a:prstGeom prst="rect">
            <a:avLst/>
          </a:prstGeom>
          <a:solidFill>
            <a:srgbClr val="CC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611880"/>
            <a:ext cx="283464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28384B"/>
                </a:solidFill>
                <a:latin typeface="Calibri"/>
              </a:defRPr>
            </a:pPr>
            <a:r>
              <a:t>Ruimte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51960"/>
            <a:ext cx="283464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718094"/>
                </a:solidFill>
                <a:latin typeface="Calibri"/>
              </a:defRPr>
            </a:pPr>
            <a:r>
              <a:t>Rust, licht en een heldere indeling.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3246120"/>
            <a:ext cx="338328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3246120"/>
            <a:ext cx="3383280" cy="54864"/>
          </a:xfrm>
          <a:prstGeom prst="rect">
            <a:avLst/>
          </a:prstGeom>
          <a:solidFill>
            <a:srgbClr val="CC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3611880"/>
            <a:ext cx="283464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28384B"/>
                </a:solidFill>
                <a:latin typeface="Calibri"/>
              </a:defRPr>
            </a:pPr>
            <a:r>
              <a:t>Materiaal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4251960"/>
            <a:ext cx="283464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718094"/>
                </a:solidFill>
                <a:latin typeface="Calibri"/>
              </a:defRPr>
            </a:pPr>
            <a:r>
              <a:t>Herbruikbaar en zorgvuldig gekozen.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3246120"/>
            <a:ext cx="338328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3246120"/>
            <a:ext cx="3383280" cy="54864"/>
          </a:xfrm>
          <a:prstGeom prst="rect">
            <a:avLst/>
          </a:prstGeom>
          <a:solidFill>
            <a:srgbClr val="CC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3611880"/>
            <a:ext cx="283464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28384B"/>
                </a:solidFill>
                <a:latin typeface="Calibri"/>
              </a:defRPr>
            </a:pPr>
            <a:r>
              <a:t>Samenwerking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251960"/>
            <a:ext cx="283464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718094"/>
                </a:solidFill>
                <a:latin typeface="Calibri"/>
              </a:defRPr>
            </a:pPr>
            <a:r>
              <a:t>Open kennis en duidelijke afspraken.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172200"/>
            <a:ext cx="91440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0">
                <a:solidFill>
                  <a:srgbClr val="718094"/>
                </a:solidFill>
                <a:latin typeface="Calibri"/>
              </a:defRPr>
            </a:pPr>
            <a:r>
              <a:t>02    SAMEN RUIMTE MAKEN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A95606"/>
                </a:solidFill>
                <a:latin typeface="Calibri"/>
              </a:defRPr>
            </a:pPr>
            <a:r>
              <a:t>OPENAEC  /  ONTWERPVISIE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28384B"/>
                </a:solidFill>
                <a:latin typeface="Calibri"/>
              </a:defRPr>
            </a:pPr>
            <a:r>
              <a:t>Van idee naar uitvoering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058400" cy="548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0">
                <a:solidFill>
                  <a:srgbClr val="718094"/>
                </a:solidFill>
                <a:latin typeface="Calibri"/>
              </a:defRPr>
            </a:pPr>
            <a:r>
              <a:t>Een overzichtelijk proces in drie stappen.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46120"/>
            <a:ext cx="338328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246120"/>
            <a:ext cx="3383280" cy="54864"/>
          </a:xfrm>
          <a:prstGeom prst="rect">
            <a:avLst/>
          </a:prstGeom>
          <a:solidFill>
            <a:srgbClr val="CC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611880"/>
            <a:ext cx="283464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28384B"/>
                </a:solidFill>
                <a:latin typeface="Calibri"/>
              </a:defRPr>
            </a:pPr>
            <a:r>
              <a:t>01  Verkennen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51960"/>
            <a:ext cx="283464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718094"/>
                </a:solidFill>
                <a:latin typeface="Calibri"/>
              </a:defRPr>
            </a:pPr>
            <a:r>
              <a:t>Onderzoek de behoefte en verzamel inzichten.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3246120"/>
            <a:ext cx="338328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3246120"/>
            <a:ext cx="3383280" cy="54864"/>
          </a:xfrm>
          <a:prstGeom prst="rect">
            <a:avLst/>
          </a:prstGeom>
          <a:solidFill>
            <a:srgbClr val="CC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3611880"/>
            <a:ext cx="283464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28384B"/>
                </a:solidFill>
                <a:latin typeface="Calibri"/>
              </a:defRPr>
            </a:pPr>
            <a:r>
              <a:t>02  Uitwerken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4251960"/>
            <a:ext cx="283464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718094"/>
                </a:solidFill>
                <a:latin typeface="Calibri"/>
              </a:defRPr>
            </a:pPr>
            <a:r>
              <a:t>Maak varianten en bespreek de afwegingen.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3246120"/>
            <a:ext cx="338328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3246120"/>
            <a:ext cx="3383280" cy="54864"/>
          </a:xfrm>
          <a:prstGeom prst="rect">
            <a:avLst/>
          </a:prstGeom>
          <a:solidFill>
            <a:srgbClr val="CC8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3611880"/>
            <a:ext cx="2834640" cy="457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100" b="1">
                <a:solidFill>
                  <a:srgbClr val="28384B"/>
                </a:solidFill>
                <a:latin typeface="Calibri"/>
              </a:defRPr>
            </a:pPr>
            <a:r>
              <a:t>03  Realiseren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251960"/>
            <a:ext cx="283464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600" b="0">
                <a:solidFill>
                  <a:srgbClr val="718094"/>
                </a:solidFill>
                <a:latin typeface="Calibri"/>
              </a:defRPr>
            </a:pPr>
            <a:r>
              <a:t>Leg besluiten vast en bewaak de kwaliteit.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172200"/>
            <a:ext cx="91440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0">
                <a:solidFill>
                  <a:srgbClr val="718094"/>
                </a:solidFill>
                <a:latin typeface="Calibri"/>
              </a:defRPr>
            </a:pPr>
            <a:r>
              <a:t>03    SAMEN RUIMTE MAKEN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OpenAEC Office Studio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Samen ruimte maken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